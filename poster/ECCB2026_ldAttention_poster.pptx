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420624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rian Monthony" initials="AM" lastIdx="5" clrIdx="0">
    <p:extLst>
      <p:ext uri="{19B8F6BF-5375-455C-9EA6-DF929625EA0E}">
        <p15:presenceInfo xmlns:p15="http://schemas.microsoft.com/office/powerpoint/2012/main" userId="Adrian Monthony" providerId="None"/>
      </p:ext>
    </p:extLst>
  </p:cmAuthor>
  <p:cmAuthor id="2" name="Ben Whittaker" initials="BW" lastIdx="4" clrIdx="1">
    <p:extLst>
      <p:ext uri="{19B8F6BF-5375-455C-9EA6-DF929625EA0E}">
        <p15:presenceInfo xmlns:p15="http://schemas.microsoft.com/office/powerpoint/2012/main" userId="Ben Whittak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5"/>
    <a:srgbClr val="909090"/>
    <a:srgbClr val="9F9F9F"/>
    <a:srgbClr val="FFC103"/>
    <a:srgbClr val="FCE6E7"/>
    <a:srgbClr val="B4C0FC"/>
    <a:srgbClr val="F5AD8C"/>
    <a:srgbClr val="4A96C5"/>
    <a:srgbClr val="C94741"/>
    <a:srgbClr val="A9D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6" autoAdjust="0"/>
    <p:restoredTop sz="95033" autoAdjust="0"/>
  </p:normalViewPr>
  <p:slideViewPr>
    <p:cSldViewPr snapToGrid="0">
      <p:cViewPr>
        <p:scale>
          <a:sx n="33" d="100"/>
          <a:sy n="33" d="100"/>
        </p:scale>
        <p:origin x="-235" y="-343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004C2-FDF0-4F43-A797-5A8313FB077F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57325" y="1143000"/>
            <a:ext cx="3943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EE8BB-CE74-41C9-AD4D-7ED09836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1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1pPr>
    <a:lvl2pPr marL="1799307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2pPr>
    <a:lvl3pPr marL="3598610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3pPr>
    <a:lvl4pPr marL="5397916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4pPr>
    <a:lvl5pPr marL="7197223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5pPr>
    <a:lvl6pPr marL="8996528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6pPr>
    <a:lvl7pPr marL="10795831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7pPr>
    <a:lvl8pPr marL="12595138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8pPr>
    <a:lvl9pPr marL="14394445" algn="l" defTabSz="3598610" rtl="0" eaLnBrk="1" latinLnBrk="0" hangingPunct="1">
      <a:defRPr sz="47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57325" y="1143000"/>
            <a:ext cx="39433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46 x 36 in</a:t>
            </a:r>
          </a:p>
          <a:p>
            <a:pPr marL="0" indent="0">
              <a:buFontTx/>
              <a:buNone/>
            </a:pPr>
            <a:r>
              <a:rPr lang="en-US" dirty="0"/>
              <a:t>Submit as SVG files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 err="1"/>
              <a:t>Alper</a:t>
            </a:r>
            <a:r>
              <a:rPr lang="en-US" dirty="0"/>
              <a:t> </a:t>
            </a:r>
            <a:r>
              <a:rPr lang="en-US" dirty="0" err="1"/>
              <a:t>Kucukural</a:t>
            </a:r>
            <a:r>
              <a:rPr lang="en-US" dirty="0"/>
              <a:t>, </a:t>
            </a:r>
            <a:r>
              <a:rPr lang="en-US" dirty="0" err="1"/>
              <a:t>Onur</a:t>
            </a:r>
            <a:r>
              <a:rPr lang="en-US" dirty="0"/>
              <a:t> </a:t>
            </a:r>
            <a:r>
              <a:rPr lang="en-US" dirty="0" err="1"/>
              <a:t>Yukselen</a:t>
            </a:r>
            <a:r>
              <a:rPr lang="en-US" dirty="0"/>
              <a:t>, Deniz M. </a:t>
            </a:r>
            <a:r>
              <a:rPr lang="en-US" dirty="0" err="1"/>
              <a:t>Ozata</a:t>
            </a:r>
            <a:r>
              <a:rPr lang="en-US" dirty="0"/>
              <a:t>, Melissa J. Moore, Manuel Garber</a:t>
            </a:r>
          </a:p>
          <a:p>
            <a:pPr marL="0" indent="0">
              <a:buFontTx/>
              <a:buNone/>
            </a:pPr>
            <a:r>
              <a:rPr lang="en-US" dirty="0" err="1"/>
              <a:t>DEBrowser</a:t>
            </a:r>
            <a:r>
              <a:rPr lang="en-US" dirty="0"/>
              <a:t>: Interactive Differential Expression Analysis and Visualization Tool for Count Data</a:t>
            </a:r>
          </a:p>
          <a:p>
            <a:pPr marL="0" indent="0">
              <a:buFontTx/>
              <a:buNone/>
            </a:pPr>
            <a:r>
              <a:rPr lang="en-US" dirty="0"/>
              <a:t>BMC Genomics 2019 20:6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EE8BB-CE74-41C9-AD4D-7ED09836E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366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4680" y="5387342"/>
            <a:ext cx="35753040" cy="11460480"/>
          </a:xfrm>
        </p:spPr>
        <p:txBody>
          <a:bodyPr anchor="b"/>
          <a:lstStyle>
            <a:lvl1pPr algn="ctr">
              <a:defRPr sz="2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7800" y="17289782"/>
            <a:ext cx="31546800" cy="7947658"/>
          </a:xfrm>
        </p:spPr>
        <p:txBody>
          <a:bodyPr/>
          <a:lstStyle>
            <a:lvl1pPr marL="0" indent="0" algn="ctr">
              <a:buNone/>
              <a:defRPr sz="11040"/>
            </a:lvl1pPr>
            <a:lvl2pPr marL="2103120" indent="0" algn="ctr">
              <a:buNone/>
              <a:defRPr sz="9200"/>
            </a:lvl2pPr>
            <a:lvl3pPr marL="4206240" indent="0" algn="ctr">
              <a:buNone/>
              <a:defRPr sz="8280"/>
            </a:lvl3pPr>
            <a:lvl4pPr marL="6309360" indent="0" algn="ctr">
              <a:buNone/>
              <a:defRPr sz="7360"/>
            </a:lvl4pPr>
            <a:lvl5pPr marL="8412480" indent="0" algn="ctr">
              <a:buNone/>
              <a:defRPr sz="7360"/>
            </a:lvl5pPr>
            <a:lvl6pPr marL="10515600" indent="0" algn="ctr">
              <a:buNone/>
              <a:defRPr sz="7360"/>
            </a:lvl6pPr>
            <a:lvl7pPr marL="12618720" indent="0" algn="ctr">
              <a:buNone/>
              <a:defRPr sz="7360"/>
            </a:lvl7pPr>
            <a:lvl8pPr marL="14721840" indent="0" algn="ctr">
              <a:buNone/>
              <a:defRPr sz="7360"/>
            </a:lvl8pPr>
            <a:lvl9pPr marL="16824960" indent="0" algn="ctr">
              <a:buNone/>
              <a:defRPr sz="7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1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9885" y="8206749"/>
            <a:ext cx="36278820" cy="13693138"/>
          </a:xfrm>
        </p:spPr>
        <p:txBody>
          <a:bodyPr anchor="b"/>
          <a:lstStyle>
            <a:lvl1pPr>
              <a:defRPr sz="2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9885" y="22029429"/>
            <a:ext cx="36278820" cy="7200898"/>
          </a:xfrm>
        </p:spPr>
        <p:txBody>
          <a:bodyPr/>
          <a:lstStyle>
            <a:lvl1pPr marL="0" indent="0">
              <a:buNone/>
              <a:defRPr sz="11040">
                <a:solidFill>
                  <a:schemeClr val="tx1"/>
                </a:solidFill>
              </a:defRPr>
            </a:lvl1pPr>
            <a:lvl2pPr marL="210312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2pPr>
            <a:lvl3pPr marL="4206240" indent="0">
              <a:buNone/>
              <a:defRPr sz="8280">
                <a:solidFill>
                  <a:schemeClr val="tx1">
                    <a:tint val="75000"/>
                  </a:schemeClr>
                </a:solidFill>
              </a:defRPr>
            </a:lvl3pPr>
            <a:lvl4pPr marL="630936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4pPr>
            <a:lvl5pPr marL="841248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5pPr>
            <a:lvl6pPr marL="1051560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6pPr>
            <a:lvl7pPr marL="1261872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7pPr>
            <a:lvl8pPr marL="1472184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8pPr>
            <a:lvl9pPr marL="1682496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3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91790" y="8763000"/>
            <a:ext cx="178765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94090" y="8763000"/>
            <a:ext cx="178765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4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1752607"/>
            <a:ext cx="3627882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7273" y="8069582"/>
            <a:ext cx="17794364" cy="3954778"/>
          </a:xfrm>
        </p:spPr>
        <p:txBody>
          <a:bodyPr anchor="b"/>
          <a:lstStyle>
            <a:lvl1pPr marL="0" indent="0">
              <a:buNone/>
              <a:defRPr sz="11040" b="1"/>
            </a:lvl1pPr>
            <a:lvl2pPr marL="2103120" indent="0">
              <a:buNone/>
              <a:defRPr sz="9200" b="1"/>
            </a:lvl2pPr>
            <a:lvl3pPr marL="4206240" indent="0">
              <a:buNone/>
              <a:defRPr sz="8280" b="1"/>
            </a:lvl3pPr>
            <a:lvl4pPr marL="6309360" indent="0">
              <a:buNone/>
              <a:defRPr sz="7360" b="1"/>
            </a:lvl4pPr>
            <a:lvl5pPr marL="8412480" indent="0">
              <a:buNone/>
              <a:defRPr sz="7360" b="1"/>
            </a:lvl5pPr>
            <a:lvl6pPr marL="10515600" indent="0">
              <a:buNone/>
              <a:defRPr sz="7360" b="1"/>
            </a:lvl6pPr>
            <a:lvl7pPr marL="12618720" indent="0">
              <a:buNone/>
              <a:defRPr sz="7360" b="1"/>
            </a:lvl7pPr>
            <a:lvl8pPr marL="14721840" indent="0">
              <a:buNone/>
              <a:defRPr sz="7360" b="1"/>
            </a:lvl8pPr>
            <a:lvl9pPr marL="16824960" indent="0">
              <a:buNone/>
              <a:defRPr sz="7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7273" y="12024360"/>
            <a:ext cx="17794364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294092" y="8069582"/>
            <a:ext cx="17881999" cy="3954778"/>
          </a:xfrm>
        </p:spPr>
        <p:txBody>
          <a:bodyPr anchor="b"/>
          <a:lstStyle>
            <a:lvl1pPr marL="0" indent="0">
              <a:buNone/>
              <a:defRPr sz="11040" b="1"/>
            </a:lvl1pPr>
            <a:lvl2pPr marL="2103120" indent="0">
              <a:buNone/>
              <a:defRPr sz="9200" b="1"/>
            </a:lvl2pPr>
            <a:lvl3pPr marL="4206240" indent="0">
              <a:buNone/>
              <a:defRPr sz="8280" b="1"/>
            </a:lvl3pPr>
            <a:lvl4pPr marL="6309360" indent="0">
              <a:buNone/>
              <a:defRPr sz="7360" b="1"/>
            </a:lvl4pPr>
            <a:lvl5pPr marL="8412480" indent="0">
              <a:buNone/>
              <a:defRPr sz="7360" b="1"/>
            </a:lvl5pPr>
            <a:lvl6pPr marL="10515600" indent="0">
              <a:buNone/>
              <a:defRPr sz="7360" b="1"/>
            </a:lvl6pPr>
            <a:lvl7pPr marL="12618720" indent="0">
              <a:buNone/>
              <a:defRPr sz="7360" b="1"/>
            </a:lvl7pPr>
            <a:lvl8pPr marL="14721840" indent="0">
              <a:buNone/>
              <a:defRPr sz="7360" b="1"/>
            </a:lvl8pPr>
            <a:lvl9pPr marL="16824960" indent="0">
              <a:buNone/>
              <a:defRPr sz="7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294092" y="12024360"/>
            <a:ext cx="17881999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9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5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2194560"/>
            <a:ext cx="13566219" cy="7680960"/>
          </a:xfrm>
        </p:spPr>
        <p:txBody>
          <a:bodyPr anchor="b"/>
          <a:lstStyle>
            <a:lvl1pPr>
              <a:defRPr sz="1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1999" y="4739647"/>
            <a:ext cx="21294090" cy="23393400"/>
          </a:xfrm>
        </p:spPr>
        <p:txBody>
          <a:bodyPr/>
          <a:lstStyle>
            <a:lvl1pPr>
              <a:defRPr sz="14720"/>
            </a:lvl1pPr>
            <a:lvl2pPr>
              <a:defRPr sz="12880"/>
            </a:lvl2pPr>
            <a:lvl3pPr>
              <a:defRPr sz="1104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7269" y="9875520"/>
            <a:ext cx="13566219" cy="18295622"/>
          </a:xfrm>
        </p:spPr>
        <p:txBody>
          <a:bodyPr/>
          <a:lstStyle>
            <a:lvl1pPr marL="0" indent="0">
              <a:buNone/>
              <a:defRPr sz="7360"/>
            </a:lvl1pPr>
            <a:lvl2pPr marL="2103120" indent="0">
              <a:buNone/>
              <a:defRPr sz="6440"/>
            </a:lvl2pPr>
            <a:lvl3pPr marL="4206240" indent="0">
              <a:buNone/>
              <a:defRPr sz="5520"/>
            </a:lvl3pPr>
            <a:lvl4pPr marL="6309360" indent="0">
              <a:buNone/>
              <a:defRPr sz="4600"/>
            </a:lvl4pPr>
            <a:lvl5pPr marL="8412480" indent="0">
              <a:buNone/>
              <a:defRPr sz="4600"/>
            </a:lvl5pPr>
            <a:lvl6pPr marL="10515600" indent="0">
              <a:buNone/>
              <a:defRPr sz="4600"/>
            </a:lvl6pPr>
            <a:lvl7pPr marL="12618720" indent="0">
              <a:buNone/>
              <a:defRPr sz="4600"/>
            </a:lvl7pPr>
            <a:lvl8pPr marL="14721840" indent="0">
              <a:buNone/>
              <a:defRPr sz="4600"/>
            </a:lvl8pPr>
            <a:lvl9pPr marL="16824960" indent="0">
              <a:buNone/>
              <a:defRPr sz="4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9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2194560"/>
            <a:ext cx="13566219" cy="7680960"/>
          </a:xfrm>
        </p:spPr>
        <p:txBody>
          <a:bodyPr anchor="b"/>
          <a:lstStyle>
            <a:lvl1pPr>
              <a:defRPr sz="1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81999" y="4739647"/>
            <a:ext cx="21294090" cy="23393400"/>
          </a:xfrm>
        </p:spPr>
        <p:txBody>
          <a:bodyPr anchor="t"/>
          <a:lstStyle>
            <a:lvl1pPr marL="0" indent="0">
              <a:buNone/>
              <a:defRPr sz="14720"/>
            </a:lvl1pPr>
            <a:lvl2pPr marL="2103120" indent="0">
              <a:buNone/>
              <a:defRPr sz="12880"/>
            </a:lvl2pPr>
            <a:lvl3pPr marL="4206240" indent="0">
              <a:buNone/>
              <a:defRPr sz="11040"/>
            </a:lvl3pPr>
            <a:lvl4pPr marL="6309360" indent="0">
              <a:buNone/>
              <a:defRPr sz="9200"/>
            </a:lvl4pPr>
            <a:lvl5pPr marL="8412480" indent="0">
              <a:buNone/>
              <a:defRPr sz="9200"/>
            </a:lvl5pPr>
            <a:lvl6pPr marL="10515600" indent="0">
              <a:buNone/>
              <a:defRPr sz="9200"/>
            </a:lvl6pPr>
            <a:lvl7pPr marL="12618720" indent="0">
              <a:buNone/>
              <a:defRPr sz="9200"/>
            </a:lvl7pPr>
            <a:lvl8pPr marL="14721840" indent="0">
              <a:buNone/>
              <a:defRPr sz="9200"/>
            </a:lvl8pPr>
            <a:lvl9pPr marL="16824960" indent="0">
              <a:buNone/>
              <a:defRPr sz="9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7269" y="9875520"/>
            <a:ext cx="13566219" cy="18295622"/>
          </a:xfrm>
        </p:spPr>
        <p:txBody>
          <a:bodyPr/>
          <a:lstStyle>
            <a:lvl1pPr marL="0" indent="0">
              <a:buNone/>
              <a:defRPr sz="7360"/>
            </a:lvl1pPr>
            <a:lvl2pPr marL="2103120" indent="0">
              <a:buNone/>
              <a:defRPr sz="6440"/>
            </a:lvl2pPr>
            <a:lvl3pPr marL="4206240" indent="0">
              <a:buNone/>
              <a:defRPr sz="5520"/>
            </a:lvl3pPr>
            <a:lvl4pPr marL="6309360" indent="0">
              <a:buNone/>
              <a:defRPr sz="4600"/>
            </a:lvl4pPr>
            <a:lvl5pPr marL="8412480" indent="0">
              <a:buNone/>
              <a:defRPr sz="4600"/>
            </a:lvl5pPr>
            <a:lvl6pPr marL="10515600" indent="0">
              <a:buNone/>
              <a:defRPr sz="4600"/>
            </a:lvl6pPr>
            <a:lvl7pPr marL="12618720" indent="0">
              <a:buNone/>
              <a:defRPr sz="4600"/>
            </a:lvl7pPr>
            <a:lvl8pPr marL="14721840" indent="0">
              <a:buNone/>
              <a:defRPr sz="4600"/>
            </a:lvl8pPr>
            <a:lvl9pPr marL="16824960" indent="0">
              <a:buNone/>
              <a:defRPr sz="4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2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1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100907" y="1752600"/>
            <a:ext cx="906970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1792" y="1752600"/>
            <a:ext cx="2668333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4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1790" y="1752607"/>
            <a:ext cx="3627882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1790" y="8763000"/>
            <a:ext cx="3627882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91790" y="30510487"/>
            <a:ext cx="94640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C1C5-2CA7-490D-9F9E-0A9C4B948067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933170" y="30510487"/>
            <a:ext cx="141960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706570" y="30510487"/>
            <a:ext cx="94640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F5380-B89E-457F-9B09-D6E52542E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9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206240" rtl="0" eaLnBrk="1" latinLnBrk="0" hangingPunct="1">
        <a:lnSpc>
          <a:spcPct val="90000"/>
        </a:lnSpc>
        <a:spcBef>
          <a:spcPct val="0"/>
        </a:spcBef>
        <a:buNone/>
        <a:defRPr sz="202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1560" indent="-1051560" algn="l" defTabSz="4206240" rtl="0" eaLnBrk="1" latinLnBrk="0" hangingPunct="1">
        <a:lnSpc>
          <a:spcPct val="90000"/>
        </a:lnSpc>
        <a:spcBef>
          <a:spcPts val="4600"/>
        </a:spcBef>
        <a:buFont typeface="Arial" panose="020B0604020202020204" pitchFamily="34" charset="0"/>
        <a:buChar char="•"/>
        <a:defRPr sz="12880" kern="1200">
          <a:solidFill>
            <a:schemeClr val="tx1"/>
          </a:solidFill>
          <a:latin typeface="+mn-lt"/>
          <a:ea typeface="+mn-ea"/>
          <a:cs typeface="+mn-cs"/>
        </a:defRPr>
      </a:lvl1pPr>
      <a:lvl2pPr marL="315468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1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5780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736092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4pPr>
      <a:lvl5pPr marL="946404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5pPr>
      <a:lvl6pPr marL="1156716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6pPr>
      <a:lvl7pPr marL="1367028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7pPr>
      <a:lvl8pPr marL="1577340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8pPr>
      <a:lvl9pPr marL="1787652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1pPr>
      <a:lvl2pPr marL="210312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2pPr>
      <a:lvl3pPr marL="420624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4pPr>
      <a:lvl5pPr marL="841248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6pPr>
      <a:lvl7pPr marL="1261872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7pPr>
      <a:lvl8pPr marL="1472184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8pPr>
      <a:lvl9pPr marL="1682496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jpeg"/><Relationship Id="rId10" Type="http://schemas.openxmlformats.org/officeDocument/2006/relationships/image" Target="../media/image8.png"/><Relationship Id="rId11" Type="http://schemas.openxmlformats.org/officeDocument/2006/relationships/image" Target="../media/image9.jpg"/><Relationship Id="rId12" Type="http://schemas.openxmlformats.org/officeDocument/2006/relationships/image" Target="../media/image10.png"/><Relationship Id="rId13" Type="http://schemas.openxmlformats.org/officeDocument/2006/relationships/image" Target="../media/image11.svg"/><Relationship Id="rId14" Type="http://schemas.openxmlformats.org/officeDocument/2006/relationships/image" Target="../media/image12.png"/><Relationship Id="rId15" Type="http://schemas.openxmlformats.org/officeDocument/2006/relationships/image" Target="../media/image13.sv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8587-7123-4EFB-ADB5-9BB302002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411480"/>
            <a:ext cx="19979639" cy="4160520"/>
          </a:xfrm>
        </p:spPr>
        <p:txBody>
          <a:bodyPr anchor="t" anchorCtr="0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b="1" sz="8600">
                <a:solidFill>
                  <a:srgbClr val="1A1A1A"/>
                </a:solidFill>
                <a:latin typeface="Baskerville Old Face"/>
              </a:rPr>
              <a:t>LD-Aware Attention for Genomic Analysis</a:t>
            </a:r>
          </a:p>
          <a:p>
            <a:pPr algn="l">
              <a:spcAft>
                <a:spcPts val="1000"/>
              </a:spcAft>
            </a:pPr>
            <a:r>
              <a:rPr b="0" sz="4200">
                <a:solidFill>
                  <a:srgbClr val="555555"/>
                </a:solidFill>
                <a:latin typeface="Baskerville Old Face"/>
              </a:rPr>
              <a:t>Fill in missing genotypes without building an r² table</a:t>
            </a:r>
          </a:p>
          <a:p>
            <a:pPr algn="l">
              <a:spcAft>
                <a:spcPts val="1000"/>
              </a:spcAft>
            </a:pPr>
            <a:r>
              <a:rPr b="1" sz="3800">
                <a:solidFill>
                  <a:srgbClr val="4472C4"/>
                </a:solidFill>
                <a:latin typeface="Abadi"/>
              </a:rPr>
              <a:t>Omar Abdelwahab · Davoud Torkamaneh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5A1B3-7284-4400-8F8E-D88D2EC59526}"/>
              </a:ext>
            </a:extLst>
          </p:cNvPr>
          <p:cNvSpPr/>
          <p:nvPr/>
        </p:nvSpPr>
        <p:spPr>
          <a:xfrm>
            <a:off x="-4151" y="29288384"/>
            <a:ext cx="42062400" cy="3689302"/>
          </a:xfrm>
          <a:prstGeom prst="rect">
            <a:avLst/>
          </a:prstGeom>
          <a:solidFill>
            <a:srgbClr val="FFF9E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5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1AA63-10CD-4F18-8B40-63F39DC7653F}"/>
              </a:ext>
            </a:extLst>
          </p:cNvPr>
          <p:cNvSpPr txBox="1"/>
          <p:nvPr/>
        </p:nvSpPr>
        <p:spPr>
          <a:xfrm>
            <a:off x="502920" y="6949440"/>
            <a:ext cx="19979639" cy="5577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just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b="0" sz="3600">
                <a:latin typeface="Abadi"/>
              </a:rPr>
              <a:t>Nearby DNA variants are often inherited together. That non-random pairing is called linkage disequilibrium (LD). Geneticists measure it with r²: a score from 0 (independent) to 1 (always travel together). Standard pipelines precompute every pairwise r² and store an L × L table, then rebuild that table for every new cohort, window and frequency cutoff.</a:t>
            </a:r>
            <a:endParaRPr kumimoji="0" lang="en-US" sz="5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Aft>
                <a:spcPts val="1400"/>
              </a:spcAft>
            </a:pPr>
            <a:r>
              <a:rPr b="0" sz="3600">
                <a:latin typeface="Abadi"/>
              </a:rPr>
              <a:t>Imputation is guessing a genotype the lab did not observe. When neighbouring SNPs drop out together — as they do in genotyping-by-sequencing — a stored list of LD partners vanishes with the site it was meant to rescue. ldAttention is a small add-on that teaches attention that LD structure, so it can still look across the rest of the window, without ever building the r² table.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A08183-97DE-41E3-9D65-6D68415331EF}"/>
              </a:ext>
            </a:extLst>
          </p:cNvPr>
          <p:cNvCxnSpPr>
            <a:cxnSpLocks/>
          </p:cNvCxnSpPr>
          <p:nvPr/>
        </p:nvCxnSpPr>
        <p:spPr>
          <a:xfrm>
            <a:off x="502920" y="4846320"/>
            <a:ext cx="19979639" cy="0"/>
          </a:xfrm>
          <a:prstGeom prst="line">
            <a:avLst/>
          </a:prstGeom>
          <a:ln w="152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48AB59-DD6E-43F5-95F4-21457D22E812}"/>
              </a:ext>
            </a:extLst>
          </p:cNvPr>
          <p:cNvSpPr txBox="1"/>
          <p:nvPr/>
        </p:nvSpPr>
        <p:spPr>
          <a:xfrm>
            <a:off x="3454444" y="29345923"/>
            <a:ext cx="16794306" cy="36317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b="1" sz="2600">
                <a:latin typeface="Abadi"/>
              </a:rPr>
              <a:t>Omar Abdelwahab  ·  Dr. Davoud Torkamaneh</a:t>
            </a:r>
          </a:p>
          <a:p>
            <a:pPr algn="l">
              <a:spcAft>
                <a:spcPts val="200"/>
              </a:spcAft>
            </a:pPr>
            <a:r>
              <a:rPr b="0" sz="2200">
                <a:latin typeface="Abadi"/>
              </a:rPr>
              <a:t>Computational Genomics  ·  Université Laval</a:t>
            </a:r>
          </a:p>
          <a:p>
            <a:pPr algn="l">
              <a:spcAft>
                <a:spcPts val="200"/>
              </a:spcAft>
            </a:pPr>
            <a:r>
              <a:rPr b="0" sz="2200">
                <a:latin typeface="Abadi"/>
              </a:rPr>
              <a:t>Département de phytologie  ·  FSAA</a:t>
            </a:r>
          </a:p>
          <a:p>
            <a:pPr algn="l">
              <a:spcAft>
                <a:spcPts val="200"/>
              </a:spcAft>
            </a:pPr>
            <a:r>
              <a:rPr b="0" sz="2200">
                <a:latin typeface="Abadi"/>
              </a:rPr>
              <a:t>Quebec City, Quebec, Canada</a:t>
            </a:r>
          </a:p>
          <a:p>
            <a:pPr algn="l">
              <a:spcAft>
                <a:spcPts val="200"/>
              </a:spcAft>
            </a:pPr>
            <a:r>
              <a:rPr b="0" sz="2200">
                <a:solidFill>
                  <a:srgbClr val="4472C4"/>
                </a:solidFill>
                <a:latin typeface="Abadi"/>
              </a:rPr>
              <a:t>ECCB 2026  ·  European Conference on Computational Biology</a:t>
            </a:r>
          </a:p>
        </p:txBody>
      </p:sp>
      <p:pic>
        <p:nvPicPr>
          <p:cNvPr id="30" name="Picture 29" descr="Text&#10;&#10;Description automatically generated">
            <a:extLst>
              <a:ext uri="{FF2B5EF4-FFF2-40B4-BE49-F238E27FC236}">
                <a16:creationId xmlns:a16="http://schemas.microsoft.com/office/drawing/2014/main" id="{78DAE4C9-8144-4936-93A7-DB8821C19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4436" y="31382958"/>
            <a:ext cx="3727013" cy="1535441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8104EB2-2FD7-4296-8F4B-08960F88B2C0}"/>
              </a:ext>
            </a:extLst>
          </p:cNvPr>
          <p:cNvCxnSpPr>
            <a:cxnSpLocks/>
          </p:cNvCxnSpPr>
          <p:nvPr/>
        </p:nvCxnSpPr>
        <p:spPr>
          <a:xfrm flipH="1">
            <a:off x="21003819" y="1075226"/>
            <a:ext cx="161251" cy="2807208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E0C0A88-0318-4FF2-B888-20F22BAF78A7}"/>
              </a:ext>
            </a:extLst>
          </p:cNvPr>
          <p:cNvSpPr txBox="1"/>
          <p:nvPr/>
        </p:nvSpPr>
        <p:spPr>
          <a:xfrm>
            <a:off x="21442680" y="24597360"/>
            <a:ext cx="20208239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685800" marR="0" algn="l" indent="-685800">
              <a:buChar char="•"/>
              <a:spcBef>
                <a:spcPts val="0"/>
              </a:spcBef>
              <a:spcAft>
                <a:spcPts val="1400"/>
              </a:spcAft>
            </a:pPr>
            <a:r>
              <a:rPr b="1" sz="3200">
                <a:solidFill>
                  <a:srgbClr val="70AD47"/>
                </a:solidFill>
                <a:latin typeface="Abadi"/>
              </a:rPr>
              <a:t>Beats explicit LD: </a:t>
            </a:r>
            <a:r>
              <a:rPr sz="3200">
                <a:latin typeface="Abadi"/>
              </a:rPr>
              <a:t>98.9% of hidden genotypes right, +4.7 pts vs the usual r² pipeline.</a:t>
            </a:r>
            <a:endParaRPr lang="en-US" sz="5000" dirty="0"/>
          </a:p>
          <a:p>
            <a:pPr algn="l" marL="685800" indent="-685800">
              <a:buChar char="•"/>
              <a:spcAft>
                <a:spcPts val="1400"/>
              </a:spcAft>
            </a:pPr>
            <a:r>
              <a:rPr b="1" sz="3200">
                <a:solidFill>
                  <a:srgbClr val="4472C4"/>
                </a:solidFill>
                <a:latin typeface="Abadi"/>
              </a:rPr>
              <a:t>Recovers LD: </a:t>
            </a:r>
            <a:r>
              <a:rPr sz="3200">
                <a:latin typeface="Abadi"/>
              </a:rPr>
              <a:t>attention matches the true r² table (r = 0.56), never shown it.</a:t>
            </a:r>
          </a:p>
          <a:p>
            <a:pPr algn="l" marL="685800" indent="-685800">
              <a:buChar char="•"/>
              <a:spcAft>
                <a:spcPts val="1400"/>
              </a:spcAft>
            </a:pPr>
            <a:r>
              <a:rPr b="1" sz="3200">
                <a:solidFill>
                  <a:srgbClr val="C00000"/>
                </a:solidFill>
                <a:latin typeface="Abadi"/>
              </a:rPr>
              <a:t>Nothing to precompute: </a:t>
            </a:r>
            <a:r>
              <a:rPr sz="3200">
                <a:latin typeface="Abadi"/>
              </a:rPr>
              <a:t>no stored L × L table, no rebuild when the cohort or window changes.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3574FA8-2AB9-4320-BE98-7CFC503E99D5}"/>
              </a:ext>
            </a:extLst>
          </p:cNvPr>
          <p:cNvSpPr txBox="1"/>
          <p:nvPr/>
        </p:nvSpPr>
        <p:spPr>
          <a:xfrm>
            <a:off x="18007612" y="29432019"/>
            <a:ext cx="2700362" cy="769441"/>
          </a:xfrm>
          <a:prstGeom prst="rect">
            <a:avLst/>
          </a:prstGeom>
          <a:noFill/>
        </p:spPr>
        <p:txBody>
          <a:bodyPr wrap="square" numCol="1" rtlCol="0" anchor="t"/>
          <a:lstStyle/>
          <a:p>
            <a:pPr algn="l">
              <a:spcAft>
                <a:spcPts val="400"/>
              </a:spcAft>
            </a:pPr>
            <a:r>
              <a:rPr b="1" sz="2200">
                <a:solidFill>
                  <a:srgbClr val="1A1A1A"/>
                </a:solidFill>
                <a:latin typeface="Abadi"/>
              </a:rPr>
              <a:t>Code &amp; pre-print</a:t>
            </a:r>
            <a:endParaRPr lang="en-US" sz="3600" dirty="0"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400"/>
              </a:spcAft>
            </a:pPr>
            <a:r>
              <a:rPr b="0" sz="2000">
                <a:solidFill>
                  <a:srgbClr val="0563C1"/>
                </a:solidFill>
                <a:latin typeface="Abadi"/>
              </a:rPr>
              <a:t>github.com/omar-abdelwahab/ldAttention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7F37B5C-39A3-4808-B731-3AABB9754689}"/>
              </a:ext>
            </a:extLst>
          </p:cNvPr>
          <p:cNvCxnSpPr>
            <a:cxnSpLocks/>
          </p:cNvCxnSpPr>
          <p:nvPr/>
        </p:nvCxnSpPr>
        <p:spPr>
          <a:xfrm>
            <a:off x="17905790" y="29760448"/>
            <a:ext cx="1" cy="29202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88DCBA4-26C3-473B-A7BA-001571C06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8205" y="29380310"/>
            <a:ext cx="2983267" cy="1924688"/>
          </a:xfrm>
          <a:prstGeom prst="rect">
            <a:avLst/>
          </a:prstGeom>
          <a:noFill/>
        </p:spPr>
      </p:pic>
      <p:pic>
        <p:nvPicPr>
          <p:cNvPr id="45" name="Picture 44" descr="Icon&#10;&#10;Description automatically generated">
            <a:extLst>
              <a:ext uri="{FF2B5EF4-FFF2-40B4-BE49-F238E27FC236}">
                <a16:creationId xmlns:a16="http://schemas.microsoft.com/office/drawing/2014/main" id="{669178C3-64E0-41AB-9DF5-876635ED95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2998" y="29321400"/>
            <a:ext cx="1644934" cy="1644934"/>
          </a:xfrm>
          <a:prstGeom prst="ellipse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96B8C01-259A-4506-B6C4-649A5B95D90D}"/>
              </a:ext>
            </a:extLst>
          </p:cNvPr>
          <p:cNvSpPr txBox="1"/>
          <p:nvPr/>
        </p:nvSpPr>
        <p:spPr>
          <a:xfrm>
            <a:off x="26465968" y="30134432"/>
            <a:ext cx="5388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badi" panose="020B0604020104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badi" panose="020B0604020104020204" pitchFamily="34" charset="0"/>
                <a:cs typeface="Arial" panose="020B0604020202020204" pitchFamily="34" charset="0"/>
              </a:rPr>
              <a:t>omar-abdelwahab</a:t>
            </a:r>
            <a:r>
              <a:rPr lang="en-US" sz="4000" dirty="0">
                <a:latin typeface="Abadi" panose="020B0604020104020204" pitchFamily="34" charset="0"/>
                <a:cs typeface="Arial" panose="020B0604020202020204" pitchFamily="34" charset="0"/>
              </a:rPr>
              <a:t>/</a:t>
            </a:r>
            <a:endParaRPr lang="en-US" sz="3600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FF873-5739-4FBD-830C-599E0B313175}"/>
              </a:ext>
            </a:extLst>
          </p:cNvPr>
          <p:cNvSpPr txBox="1"/>
          <p:nvPr/>
        </p:nvSpPr>
        <p:spPr>
          <a:xfrm>
            <a:off x="17721060" y="3057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97EFD94D-B384-A4EB-9DE4-C4724A57FC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389593" y="29345923"/>
            <a:ext cx="2532033" cy="1521987"/>
          </a:xfrm>
          <a:prstGeom prst="rect">
            <a:avLst/>
          </a:prstGeom>
        </p:spPr>
      </p:pic>
      <p:pic>
        <p:nvPicPr>
          <p:cNvPr id="28" name="Picture 27" descr="A person standing in a room with plants&#10;&#10;Description automatically generated">
            <a:extLst>
              <a:ext uri="{FF2B5EF4-FFF2-40B4-BE49-F238E27FC236}">
                <a16:creationId xmlns:a16="http://schemas.microsoft.com/office/drawing/2014/main" id="{E8547CEA-0DDD-E390-B49F-E877C9194E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89" y="29327618"/>
            <a:ext cx="3088181" cy="3631764"/>
          </a:xfrm>
          <a:prstGeom prst="rect">
            <a:avLst/>
          </a:prstGeom>
        </p:spPr>
      </p:pic>
      <p:pic>
        <p:nvPicPr>
          <p:cNvPr id="946" name="Picture 945" descr="A blue and black logo&#10;&#10;Description automatically generated">
            <a:extLst>
              <a:ext uri="{FF2B5EF4-FFF2-40B4-BE49-F238E27FC236}">
                <a16:creationId xmlns:a16="http://schemas.microsoft.com/office/drawing/2014/main" id="{7024BF6B-51FA-0E73-105D-A9774BFFFF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7018" y="29055067"/>
            <a:ext cx="3945747" cy="2900124"/>
          </a:xfrm>
          <a:prstGeom prst="rect">
            <a:avLst/>
          </a:prstGeom>
        </p:spPr>
      </p:pic>
      <p:pic>
        <p:nvPicPr>
          <p:cNvPr id="948" name="Picture 947" descr="A logo with blue letters&#10;&#10;Description automatically generated">
            <a:extLst>
              <a:ext uri="{FF2B5EF4-FFF2-40B4-BE49-F238E27FC236}">
                <a16:creationId xmlns:a16="http://schemas.microsoft.com/office/drawing/2014/main" id="{AD0EFFEB-30E8-053F-7A50-37AA292709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1992" y="31048425"/>
            <a:ext cx="2983266" cy="1784037"/>
          </a:xfrm>
          <a:prstGeom prst="rect">
            <a:avLst/>
          </a:prstGeom>
        </p:spPr>
      </p:pic>
      <p:sp>
        <p:nvSpPr>
          <p:cNvPr id="949" name="TextBox 1">
            <a:extLst>
              <a:ext uri="{FF2B5EF4-FFF2-40B4-BE49-F238E27FC236}">
                <a16:creationId xmlns:a16="http://schemas.microsoft.com/office/drawing/2014/main" id="{BE806AB9-0637-2D9C-46BE-E6D234A67DEF}"/>
              </a:ext>
            </a:extLst>
          </p:cNvPr>
          <p:cNvSpPr txBox="1"/>
          <p:nvPr/>
        </p:nvSpPr>
        <p:spPr>
          <a:xfrm rot="20143829">
            <a:off x="17991472" y="30960863"/>
            <a:ext cx="2058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omic Sans MS" panose="030F0702030302020204" pitchFamily="66" charset="0"/>
              </a:rPr>
              <a:t>Scan me</a:t>
            </a:r>
            <a:endParaRPr lang="fr-CA" sz="3600" dirty="0">
              <a:latin typeface="Comic Sans MS" panose="030F0702030302020204" pitchFamily="66" charset="0"/>
            </a:endParaRPr>
          </a:p>
        </p:txBody>
      </p:sp>
      <p:pic>
        <p:nvPicPr>
          <p:cNvPr id="950" name="Graphic 1" descr="Line arrow: Clockwise curve with solid fill">
            <a:extLst>
              <a:ext uri="{FF2B5EF4-FFF2-40B4-BE49-F238E27FC236}">
                <a16:creationId xmlns:a16="http://schemas.microsoft.com/office/drawing/2014/main" id="{795BC65B-35E0-3B09-A4C7-716B6A1843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 flipV="1">
            <a:off x="18969413" y="31640310"/>
            <a:ext cx="914400" cy="836967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81F6F297-9CC5-FA51-171B-31B7C021D36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5071" t="-1415" r="22848" b="83323"/>
          <a:stretch/>
        </p:blipFill>
        <p:spPr>
          <a:xfrm>
            <a:off x="23480676" y="31588642"/>
            <a:ext cx="4048065" cy="878627"/>
          </a:xfrm>
          <a:prstGeom prst="rect">
            <a:avLst/>
          </a:prstGeom>
        </p:spPr>
      </p:pic>
      <p:sp>
        <p:nvSpPr>
          <p:cNvPr id="958" name="TextBox 957">
            <a:extLst>
              <a:ext uri="{FF2B5EF4-FFF2-40B4-BE49-F238E27FC236}">
                <a16:creationId xmlns:a16="http://schemas.microsoft.com/office/drawing/2014/main" id="{689F29EB-41A2-C4BB-1050-9AD79E8E6C72}"/>
              </a:ext>
            </a:extLst>
          </p:cNvPr>
          <p:cNvSpPr txBox="1"/>
          <p:nvPr/>
        </p:nvSpPr>
        <p:spPr>
          <a:xfrm>
            <a:off x="26477692" y="31576368"/>
            <a:ext cx="5388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badi" panose="020B0604020104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badi" panose="020B0604020104020204" pitchFamily="34" charset="0"/>
                <a:cs typeface="Arial" panose="020B0604020202020204" pitchFamily="34" charset="0"/>
              </a:rPr>
              <a:t>omarabdelwhab</a:t>
            </a:r>
            <a:r>
              <a:rPr lang="en-US" sz="4000" dirty="0">
                <a:latin typeface="Abadi" panose="020B0604020104020204" pitchFamily="34" charset="0"/>
                <a:cs typeface="Arial" panose="020B0604020202020204" pitchFamily="34" charset="0"/>
              </a:rPr>
              <a:t>/</a:t>
            </a:r>
            <a:endParaRPr lang="en-US" sz="3600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8A7748-CB53-9485-3F04-2DE41865C9F3}"/>
              </a:ext>
            </a:extLst>
          </p:cNvPr>
          <p:cNvSpPr txBox="1"/>
          <p:nvPr/>
        </p:nvSpPr>
        <p:spPr>
          <a:xfrm rot="10800000" flipV="1">
            <a:off x="21442680" y="21534120"/>
            <a:ext cx="20208239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just">
              <a:spcAft>
                <a:spcPts val="1400"/>
              </a:spcAft>
            </a:pPr>
            <a:r>
              <a:rPr b="0" sz="2600">
                <a:solidFill>
                  <a:srgbClr val="555555"/>
                </a:solidFill>
                <a:latin typeface="Abadi"/>
              </a:rPr>
              <a:t>Figure 1. Accuracy = % hidden genotypes right on held-out people; a point = 1 pp. a) vs usual and fully-tuned r² pipelines. b) ahead of explicit LD at every cohort size. c) More genotypes hidden. d) By how common the variant is (MAF). e) True r² vs attention. Mean ± s.d., 6 seeds (a, c, d); 3 (b).</a:t>
            </a:r>
            <a:endParaRPr lang="en-US" sz="5400" dirty="0">
              <a:cs typeface="Times New Roman" panose="02020603050405020304" pitchFamily="18" charset="0"/>
            </a:endParaRPr>
          </a:p>
        </p:txBody>
      </p:sp>
      <p:pic>
        <p:nvPicPr>
          <p:cNvPr id="33" name="Picture 32" descr="A blue and white logo&#10;&#10;Description automatically generated">
            <a:extLst>
              <a:ext uri="{FF2B5EF4-FFF2-40B4-BE49-F238E27FC236}">
                <a16:creationId xmlns:a16="http://schemas.microsoft.com/office/drawing/2014/main" id="{BF872170-339E-C830-7C20-067EC1D71FD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8315" y="31095428"/>
            <a:ext cx="1774299" cy="17742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0B2722-9A40-3F36-6D29-C593D4307483}"/>
              </a:ext>
            </a:extLst>
          </p:cNvPr>
          <p:cNvSpPr txBox="1"/>
          <p:nvPr/>
        </p:nvSpPr>
        <p:spPr>
          <a:xfrm>
            <a:off x="502920" y="21488400"/>
            <a:ext cx="19979639" cy="7315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685800" indent="-685800" algn="l">
              <a:buChar char="•"/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b="1" sz="3200">
                <a:solidFill>
                  <a:srgbClr val="70AD47"/>
                </a:solidFill>
                <a:latin typeface="Abadi"/>
              </a:rPr>
              <a:t>What it does: </a:t>
            </a:r>
            <a:r>
              <a:rPr sz="3200">
                <a:latin typeface="Abadi"/>
              </a:rPr>
              <a:t>Before attention picks which variants to look at, we add two learned numbers — an LD bias — to those scores.</a:t>
            </a:r>
          </a:p>
          <a:p>
            <a:pPr algn="l" marL="685800" indent="-685800">
              <a:buChar char="•"/>
              <a:spcAft>
                <a:spcPts val="1400"/>
              </a:spcAft>
            </a:pPr>
            <a:r>
              <a:rPr b="1" sz="3200">
                <a:solidFill>
                  <a:srgbClr val="70AD47"/>
                </a:solidFill>
                <a:latin typeface="Abadi"/>
              </a:rPr>
              <a:t>Distance term: </a:t>
            </a:r>
            <a:r>
              <a:rPr sz="3200">
                <a:latin typeface="Abadi"/>
              </a:rPr>
              <a:t>Nearby sites get a boost. LD fades with genomic distance; this term learns that fade.</a:t>
            </a:r>
          </a:p>
          <a:p>
            <a:pPr algn="l" marL="685800" indent="-685800">
              <a:buChar char="•"/>
              <a:spcAft>
                <a:spcPts val="1400"/>
              </a:spcAft>
            </a:pPr>
            <a:r>
              <a:rPr b="1" sz="3200">
                <a:solidFill>
                  <a:srgbClr val="70AD47"/>
                </a:solidFill>
                <a:latin typeface="Abadi"/>
              </a:rPr>
              <a:t>Genotype term: </a:t>
            </a:r>
            <a:r>
              <a:rPr sz="3200">
                <a:latin typeface="Abadi"/>
              </a:rPr>
              <a:t>Sites whose alleles move together get a boost — a correlation-like pairwise score, learned from the data.</a:t>
            </a:r>
          </a:p>
          <a:p>
            <a:pPr algn="l" marL="685800" indent="-685800">
              <a:buChar char="•"/>
              <a:spcAft>
                <a:spcPts val="1400"/>
              </a:spcAft>
            </a:pPr>
            <a:r>
              <a:rPr b="1" sz="3200">
                <a:solidFill>
                  <a:srgbClr val="4472C4"/>
                </a:solidFill>
                <a:latin typeface="Abadi"/>
              </a:rPr>
              <a:t>Where it sits: </a:t>
            </a:r>
            <a:r>
              <a:rPr sz="3200">
                <a:latin typeface="Abadi"/>
              </a:rPr>
              <a:t>A drop-in for any standard attention layer (PyTorch SDPA or MultiheadAttention). No extra preprocessing stage.</a:t>
            </a:r>
          </a:p>
          <a:p>
            <a:pPr algn="l" marL="685800" indent="-685800">
              <a:buChar char="•"/>
              <a:spcAft>
                <a:spcPts val="1400"/>
              </a:spcAft>
            </a:pPr>
            <a:r>
              <a:rPr b="1" sz="3200">
                <a:solidFill>
                  <a:srgbClr val="C00000"/>
                </a:solidFill>
                <a:latin typeface="Abadi"/>
              </a:rPr>
              <a:t>What it removes: </a:t>
            </a:r>
            <a:r>
              <a:rPr sz="3200">
                <a:latin typeface="Abadi"/>
              </a:rPr>
              <a:t>The stored L × L r² table. Nothing to build, store, or rebuild when the cohort or the window changes.</a:t>
            </a:r>
          </a:p>
        </p:txBody>
      </p:sp>
      <p:pic>
        <p:nvPicPr>
          <p:cNvPr id="1033" name="Picture 1032" descr="fig_results_strip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443594" y="15361920"/>
            <a:ext cx="20206411" cy="5303520"/>
          </a:xfrm>
          <a:prstGeom prst="rect">
            <a:avLst/>
          </a:prstGeom>
        </p:spPr>
      </p:pic>
      <p:pic>
        <p:nvPicPr>
          <p:cNvPr id="1034" name="Picture 1033" descr="fig_architectur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4189" y="14584680"/>
            <a:ext cx="19977100" cy="6537960"/>
          </a:xfrm>
          <a:prstGeom prst="rect">
            <a:avLst/>
          </a:prstGeom>
        </p:spPr>
      </p:pic>
      <p:pic>
        <p:nvPicPr>
          <p:cNvPr id="1035" name="Picture 1034" descr="fig_results_mai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443810" y="8366760"/>
            <a:ext cx="20205979" cy="6812280"/>
          </a:xfrm>
          <a:prstGeom prst="rect">
            <a:avLst/>
          </a:prstGeom>
        </p:spPr>
      </p:pic>
      <p:pic>
        <p:nvPicPr>
          <p:cNvPr id="1036" name="Picture 1035" descr="fig_validation_pipelin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442821" y="2011680"/>
            <a:ext cx="20207957" cy="2423160"/>
          </a:xfrm>
          <a:prstGeom prst="rect">
            <a:avLst/>
          </a:prstGeom>
        </p:spPr>
      </p:pic>
      <p:pic>
        <p:nvPicPr>
          <p:cNvPr id="1037" name="Picture 1036" descr="fig_q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363142" y="29480023"/>
            <a:ext cx="3385167" cy="3385167"/>
          </a:xfrm>
          <a:prstGeom prst="rect">
            <a:avLst/>
          </a:prstGeom>
        </p:spPr>
      </p:pic>
      <p:sp>
        <p:nvSpPr>
          <p:cNvPr id="1038" name="TextBox 1037"/>
          <p:cNvSpPr txBox="1"/>
          <p:nvPr/>
        </p:nvSpPr>
        <p:spPr>
          <a:xfrm>
            <a:off x="21442680" y="4800600"/>
            <a:ext cx="20208239" cy="1719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just">
              <a:spcAft>
                <a:spcPts val="1400"/>
              </a:spcAft>
            </a:pPr>
            <a:r>
              <a:rPr b="0" sz="2800">
                <a:solidFill>
                  <a:srgbClr val="555555"/>
                </a:solidFill>
                <a:latin typeface="Abadi"/>
              </a:rPr>
              <a:t>128 SNPs × 1000 people (msprime, MAF ≥ 5%). Hide 30% of genotypes in 8-SNP blocks (as in GBS). Accuracy = % guessed right on held-out people. A point = 1 pp of that. Same holes, 6 seeds.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21442680" y="27203400"/>
            <a:ext cx="20208239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just">
              <a:spcAft>
                <a:spcPts val="1400"/>
              </a:spcAft>
            </a:pPr>
            <a:r>
              <a:rPr b="0" sz="2800">
                <a:solidFill>
                  <a:srgbClr val="555555"/>
                </a:solidFill>
                <a:latin typeface="Abadi"/>
              </a:rPr>
              <a:t>Accuracy = % of hidden genotypes right on new people; a point = 1 pp of that. The layer's edge: beat the r² pipeline without building that table (a) and reconstruct the table in attention (e). Fully-tuned all-partner control: 97.2% (+1.8 pts).</a:t>
            </a:r>
          </a:p>
        </p:txBody>
      </p:sp>
      <p:sp>
        <p:nvSpPr>
          <p:cNvPr id="1040" name="Oval 1039"/>
          <p:cNvSpPr/>
          <p:nvPr/>
        </p:nvSpPr>
        <p:spPr>
          <a:xfrm>
            <a:off x="502920" y="5212080"/>
            <a:ext cx="1234440" cy="12344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5600">
                <a:solidFill>
                  <a:srgbClr val="FFFFFF"/>
                </a:solidFill>
                <a:latin typeface="Baskerville Old Face"/>
              </a:rPr>
              <a:t>1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2148840" y="5120640"/>
            <a:ext cx="1833371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5800">
                <a:solidFill>
                  <a:srgbClr val="1A1A1A"/>
                </a:solidFill>
                <a:latin typeface="Baskerville Old Face"/>
              </a:rPr>
              <a:t>Background</a:t>
            </a:r>
          </a:p>
        </p:txBody>
      </p:sp>
      <p:cxnSp>
        <p:nvCxnSpPr>
          <p:cNvPr id="1042" name="Connector 1041"/>
          <p:cNvCxnSpPr/>
          <p:nvPr/>
        </p:nvCxnSpPr>
        <p:spPr>
          <a:xfrm>
            <a:off x="502920" y="6647688"/>
            <a:ext cx="199796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Oval 1042"/>
          <p:cNvSpPr/>
          <p:nvPr/>
        </p:nvSpPr>
        <p:spPr>
          <a:xfrm>
            <a:off x="502920" y="12847320"/>
            <a:ext cx="1234440" cy="12344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5600">
                <a:solidFill>
                  <a:srgbClr val="FFFFFF"/>
                </a:solidFill>
                <a:latin typeface="Baskerville Old Face"/>
              </a:rPr>
              <a:t>2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2148840" y="12755880"/>
            <a:ext cx="1833371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5800">
                <a:solidFill>
                  <a:srgbClr val="1A1A1A"/>
                </a:solidFill>
                <a:latin typeface="Baskerville Old Face"/>
              </a:rPr>
              <a:t>Approach</a:t>
            </a:r>
          </a:p>
        </p:txBody>
      </p:sp>
      <p:cxnSp>
        <p:nvCxnSpPr>
          <p:cNvPr id="1045" name="Connector 1044"/>
          <p:cNvCxnSpPr/>
          <p:nvPr/>
        </p:nvCxnSpPr>
        <p:spPr>
          <a:xfrm>
            <a:off x="502920" y="14282928"/>
            <a:ext cx="199796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Oval 1045"/>
          <p:cNvSpPr/>
          <p:nvPr/>
        </p:nvSpPr>
        <p:spPr>
          <a:xfrm>
            <a:off x="21442680" y="411480"/>
            <a:ext cx="1234440" cy="12344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5600">
                <a:solidFill>
                  <a:srgbClr val="FFFFFF"/>
                </a:solidFill>
                <a:latin typeface="Baskerville Old Face"/>
              </a:rPr>
              <a:t>3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23088600" y="320040"/>
            <a:ext cx="1856231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5800">
                <a:solidFill>
                  <a:srgbClr val="1A1A1A"/>
                </a:solidFill>
                <a:latin typeface="Baskerville Old Face"/>
              </a:rPr>
              <a:t>Methods</a:t>
            </a:r>
          </a:p>
        </p:txBody>
      </p:sp>
      <p:cxnSp>
        <p:nvCxnSpPr>
          <p:cNvPr id="1048" name="Connector 1047"/>
          <p:cNvCxnSpPr/>
          <p:nvPr/>
        </p:nvCxnSpPr>
        <p:spPr>
          <a:xfrm>
            <a:off x="21442680" y="1847088"/>
            <a:ext cx="202082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Oval 1048"/>
          <p:cNvSpPr/>
          <p:nvPr/>
        </p:nvSpPr>
        <p:spPr>
          <a:xfrm>
            <a:off x="21442680" y="6693408"/>
            <a:ext cx="1234440" cy="12344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5600">
                <a:solidFill>
                  <a:srgbClr val="FFFFFF"/>
                </a:solidFill>
                <a:latin typeface="Baskerville Old Face"/>
              </a:rPr>
              <a:t>4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23088600" y="6601968"/>
            <a:ext cx="1856231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5800">
                <a:solidFill>
                  <a:srgbClr val="1A1A1A"/>
                </a:solidFill>
                <a:latin typeface="Baskerville Old Face"/>
              </a:rPr>
              <a:t>Results</a:t>
            </a:r>
          </a:p>
        </p:txBody>
      </p:sp>
      <p:cxnSp>
        <p:nvCxnSpPr>
          <p:cNvPr id="1051" name="Connector 1050"/>
          <p:cNvCxnSpPr/>
          <p:nvPr/>
        </p:nvCxnSpPr>
        <p:spPr>
          <a:xfrm>
            <a:off x="21442680" y="8129016"/>
            <a:ext cx="202082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Oval 1051"/>
          <p:cNvSpPr/>
          <p:nvPr/>
        </p:nvSpPr>
        <p:spPr>
          <a:xfrm>
            <a:off x="21442680" y="22905720"/>
            <a:ext cx="1234440" cy="12344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5600">
                <a:solidFill>
                  <a:srgbClr val="FFFFFF"/>
                </a:solidFill>
                <a:latin typeface="Baskerville Old Face"/>
              </a:rPr>
              <a:t>5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23088600" y="22814280"/>
            <a:ext cx="1856231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5800">
                <a:solidFill>
                  <a:srgbClr val="1A1A1A"/>
                </a:solidFill>
                <a:latin typeface="Baskerville Old Face"/>
              </a:rPr>
              <a:t>Conclusion</a:t>
            </a:r>
          </a:p>
        </p:txBody>
      </p:sp>
      <p:cxnSp>
        <p:nvCxnSpPr>
          <p:cNvPr id="1054" name="Connector 1053"/>
          <p:cNvCxnSpPr/>
          <p:nvPr/>
        </p:nvCxnSpPr>
        <p:spPr>
          <a:xfrm>
            <a:off x="21442680" y="24341328"/>
            <a:ext cx="202082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940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8613</TotalTime>
  <Words>352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Abadi</vt:lpstr>
      <vt:lpstr>Arial</vt:lpstr>
      <vt:lpstr>Baskerville Old Face</vt:lpstr>
      <vt:lpstr>Calibri</vt:lpstr>
      <vt:lpstr>Calibri Light</vt:lpstr>
      <vt:lpstr>Comic Sans MS</vt:lpstr>
      <vt:lpstr>Times New Roman</vt:lpstr>
      <vt:lpstr>Office Theme</vt:lpstr>
      <vt:lpstr>Refinement of genetic variants needs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LD-Aware Attention — ECCB 2026</dc:title>
  <dc:creator>Omar Abdelwahab</dc:creator>
  <cp:lastModifiedBy>Omar Abdelwahab</cp:lastModifiedBy>
  <cp:revision>26</cp:revision>
  <dcterms:created xsi:type="dcterms:W3CDTF">2021-04-18T16:00:40Z</dcterms:created>
  <dcterms:modified xsi:type="dcterms:W3CDTF">2024-11-04T15:32:27Z</dcterms:modified>
  <dc:subject>ldAttention</dc:subject>
  <cp:keywords>linkage disequilibrium, attention, transformer, genomics, imputation</cp:keywords>
</cp:coreProperties>
</file>